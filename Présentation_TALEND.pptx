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63" r:id="rId3"/>
    <p:sldId id="257" r:id="rId4"/>
    <p:sldId id="264" r:id="rId5"/>
    <p:sldId id="271" r:id="rId6"/>
    <p:sldId id="272" r:id="rId7"/>
    <p:sldId id="259" r:id="rId8"/>
    <p:sldId id="267" r:id="rId9"/>
    <p:sldId id="269" r:id="rId10"/>
    <p:sldId id="270" r:id="rId11"/>
    <p:sldId id="274" r:id="rId12"/>
    <p:sldId id="273" r:id="rId13"/>
    <p:sldId id="275" r:id="rId14"/>
    <p:sldId id="268" r:id="rId15"/>
    <p:sldId id="262" r:id="rId16"/>
    <p:sldId id="27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716"/>
  </p:normalViewPr>
  <p:slideViewPr>
    <p:cSldViewPr snapToGrid="0" snapToObjects="1">
      <p:cViewPr varScale="1">
        <p:scale>
          <a:sx n="103" d="100"/>
          <a:sy n="103" d="100"/>
        </p:scale>
        <p:origin x="178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15289E-63F5-8547-ABC7-8A0B411ACCA2}" type="datetimeFigureOut">
              <a:rPr lang="fr-FR" smtClean="0"/>
              <a:t>31/10/2025</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7E652-ECF9-BC48-AE5F-CB722FF04272}" type="slidenum">
              <a:rPr lang="fr-FR" smtClean="0"/>
              <a:t>‹N°›</a:t>
            </a:fld>
            <a:endParaRPr lang="fr-FR"/>
          </a:p>
        </p:txBody>
      </p:sp>
    </p:spTree>
    <p:extLst>
      <p:ext uri="{BB962C8B-B14F-4D97-AF65-F5344CB8AC3E}">
        <p14:creationId xmlns:p14="http://schemas.microsoft.com/office/powerpoint/2010/main" val="1888427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C77E652-ECF9-BC48-AE5F-CB722FF04272}" type="slidenum">
              <a:rPr lang="fr-FR" smtClean="0"/>
              <a:t>5</a:t>
            </a:fld>
            <a:endParaRPr lang="fr-FR"/>
          </a:p>
        </p:txBody>
      </p:sp>
    </p:spTree>
    <p:extLst>
      <p:ext uri="{BB962C8B-B14F-4D97-AF65-F5344CB8AC3E}">
        <p14:creationId xmlns:p14="http://schemas.microsoft.com/office/powerpoint/2010/main" val="360673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61591"/>
            <a:lum/>
          </a:blip>
          <a:srcRect/>
          <a:stretch>
            <a:fillRect l="-17000" r="-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10/31/25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B12510DE-F162-8AC7-C420-F725CABB5D09}"/>
              </a:ext>
            </a:extLst>
          </p:cNvPr>
          <p:cNvPicPr>
            <a:picLocks noChangeAspect="1"/>
          </p:cNvPicPr>
          <p:nvPr/>
        </p:nvPicPr>
        <p:blipFill>
          <a:blip r:embed="rId2"/>
          <a:stretch>
            <a:fillRect/>
          </a:stretch>
        </p:blipFill>
        <p:spPr>
          <a:xfrm>
            <a:off x="7414054" y="5096380"/>
            <a:ext cx="1618735" cy="1613339"/>
          </a:xfrm>
          <a:prstGeom prst="rect">
            <a:avLst/>
          </a:prstGeom>
          <a:solidFill>
            <a:srgbClr val="FFFFFF"/>
          </a:solidFill>
          <a:ln>
            <a:solidFill>
              <a:schemeClr val="accent1"/>
            </a:solidFill>
          </a:ln>
          <a:effectLst>
            <a:outerShdw blurRad="50800" dist="50800" dir="5400000" sx="108000" sy="108000" algn="ctr" rotWithShape="0">
              <a:schemeClr val="accent4"/>
            </a:outerShdw>
          </a:effectLst>
        </p:spPr>
      </p:pic>
      <p:sp>
        <p:nvSpPr>
          <p:cNvPr id="7" name="ZoneTexte 6">
            <a:extLst>
              <a:ext uri="{FF2B5EF4-FFF2-40B4-BE49-F238E27FC236}">
                <a16:creationId xmlns:a16="http://schemas.microsoft.com/office/drawing/2014/main" id="{C0577F94-8013-ED9E-FB6F-BF0848D61C1B}"/>
              </a:ext>
            </a:extLst>
          </p:cNvPr>
          <p:cNvSpPr txBox="1"/>
          <p:nvPr/>
        </p:nvSpPr>
        <p:spPr>
          <a:xfrm>
            <a:off x="457200" y="2059972"/>
            <a:ext cx="6301946" cy="1569660"/>
          </a:xfrm>
          <a:prstGeom prst="rect">
            <a:avLst/>
          </a:prstGeom>
          <a:noFill/>
        </p:spPr>
        <p:txBody>
          <a:bodyPr wrap="square" rtlCol="0">
            <a:spAutoFit/>
          </a:bodyPr>
          <a:lstStyle/>
          <a:p>
            <a:r>
              <a:rPr lang="fr-FR" sz="2400" b="1" dirty="0">
                <a:solidFill>
                  <a:schemeClr val="tx1">
                    <a:lumMod val="95000"/>
                    <a:lumOff val="5000"/>
                  </a:schemeClr>
                </a:solidFill>
              </a:rPr>
              <a:t>Sources :</a:t>
            </a:r>
            <a:br>
              <a:rPr lang="fr-FR" sz="2400" b="1" dirty="0">
                <a:solidFill>
                  <a:schemeClr val="tx1">
                    <a:lumMod val="95000"/>
                    <a:lumOff val="5000"/>
                  </a:schemeClr>
                </a:solidFill>
              </a:rPr>
            </a:br>
            <a:r>
              <a:rPr lang="fr-FR" sz="2400" b="1" dirty="0">
                <a:solidFill>
                  <a:schemeClr val="tx1">
                    <a:lumMod val="95000"/>
                    <a:lumOff val="5000"/>
                  </a:schemeClr>
                </a:solidFill>
              </a:rPr>
              <a:t>	CRM -&gt; informations clients </a:t>
            </a:r>
            <a:br>
              <a:rPr lang="fr-FR" sz="2400" b="1" dirty="0">
                <a:solidFill>
                  <a:schemeClr val="tx1">
                    <a:lumMod val="95000"/>
                    <a:lumOff val="5000"/>
                  </a:schemeClr>
                </a:solidFill>
              </a:rPr>
            </a:br>
            <a:r>
              <a:rPr lang="fr-FR" sz="2400" b="1" dirty="0">
                <a:solidFill>
                  <a:schemeClr val="tx1">
                    <a:lumMod val="95000"/>
                    <a:lumOff val="5000"/>
                  </a:schemeClr>
                </a:solidFill>
              </a:rPr>
              <a:t>	ERP -&gt; commandes internes</a:t>
            </a:r>
            <a:br>
              <a:rPr lang="fr-FR" sz="2400" b="1" dirty="0">
                <a:solidFill>
                  <a:schemeClr val="tx1">
                    <a:lumMod val="95000"/>
                    <a:lumOff val="5000"/>
                  </a:schemeClr>
                </a:solidFill>
              </a:rPr>
            </a:br>
            <a:r>
              <a:rPr lang="fr-FR" sz="2400" b="1" dirty="0">
                <a:solidFill>
                  <a:schemeClr val="tx1">
                    <a:lumMod val="95000"/>
                    <a:lumOff val="5000"/>
                  </a:schemeClr>
                </a:solidFill>
              </a:rPr>
              <a:t>	E-commerce -&gt; ventes en ligne</a:t>
            </a:r>
          </a:p>
        </p:txBody>
      </p:sp>
      <p:sp>
        <p:nvSpPr>
          <p:cNvPr id="9" name="Titre 8">
            <a:extLst>
              <a:ext uri="{FF2B5EF4-FFF2-40B4-BE49-F238E27FC236}">
                <a16:creationId xmlns:a16="http://schemas.microsoft.com/office/drawing/2014/main" id="{4849F811-AA87-3A36-18C1-36A08C384467}"/>
              </a:ext>
            </a:extLst>
          </p:cNvPr>
          <p:cNvSpPr>
            <a:spLocks noGrp="1"/>
          </p:cNvSpPr>
          <p:nvPr>
            <p:ph type="title"/>
          </p:nvPr>
        </p:nvSpPr>
        <p:spPr/>
        <p:txBody>
          <a:bodyPr>
            <a:noAutofit/>
          </a:bodyPr>
          <a:lstStyle/>
          <a:p>
            <a:r>
              <a:rPr lang="fr-FR" sz="3200" b="1" dirty="0">
                <a:solidFill>
                  <a:schemeClr val="tx1">
                    <a:lumMod val="95000"/>
                    <a:lumOff val="5000"/>
                  </a:schemeClr>
                </a:solidFill>
              </a:rPr>
              <a:t>Projet Talend – Intégration et Fusion de Données Multi sources</a:t>
            </a:r>
            <a:endParaRPr lang="fr-FR" sz="3200" dirty="0"/>
          </a:p>
        </p:txBody>
      </p:sp>
      <p:sp>
        <p:nvSpPr>
          <p:cNvPr id="10" name="ZoneTexte 9">
            <a:extLst>
              <a:ext uri="{FF2B5EF4-FFF2-40B4-BE49-F238E27FC236}">
                <a16:creationId xmlns:a16="http://schemas.microsoft.com/office/drawing/2014/main" id="{55FE8333-11BE-5F4F-9B72-2D3FA441E95E}"/>
              </a:ext>
            </a:extLst>
          </p:cNvPr>
          <p:cNvSpPr txBox="1"/>
          <p:nvPr/>
        </p:nvSpPr>
        <p:spPr>
          <a:xfrm>
            <a:off x="457200" y="5718357"/>
            <a:ext cx="4720281" cy="523220"/>
          </a:xfrm>
          <a:prstGeom prst="rect">
            <a:avLst/>
          </a:prstGeom>
          <a:noFill/>
        </p:spPr>
        <p:txBody>
          <a:bodyPr wrap="square" rtlCol="0">
            <a:spAutoFit/>
          </a:bodyPr>
          <a:lstStyle/>
          <a:p>
            <a:r>
              <a:rPr lang="fr-FR" sz="2800" b="1" dirty="0">
                <a:solidFill>
                  <a:schemeClr val="tx1">
                    <a:lumMod val="95000"/>
                    <a:lumOff val="5000"/>
                  </a:schemeClr>
                </a:solidFill>
              </a:rPr>
              <a:t>Matteo CHERIEF, Joseph KEITA</a:t>
            </a:r>
            <a:endParaRPr lang="fr-FR" sz="2800" dirty="0"/>
          </a:p>
        </p:txBody>
      </p:sp>
      <p:sp>
        <p:nvSpPr>
          <p:cNvPr id="11" name="ZoneTexte 10">
            <a:extLst>
              <a:ext uri="{FF2B5EF4-FFF2-40B4-BE49-F238E27FC236}">
                <a16:creationId xmlns:a16="http://schemas.microsoft.com/office/drawing/2014/main" id="{538D5C06-AECD-7DED-D63D-E8ADA383BE77}"/>
              </a:ext>
            </a:extLst>
          </p:cNvPr>
          <p:cNvSpPr txBox="1"/>
          <p:nvPr/>
        </p:nvSpPr>
        <p:spPr>
          <a:xfrm>
            <a:off x="7414054" y="4271966"/>
            <a:ext cx="1729946" cy="646331"/>
          </a:xfrm>
          <a:prstGeom prst="rect">
            <a:avLst/>
          </a:prstGeom>
          <a:noFill/>
        </p:spPr>
        <p:txBody>
          <a:bodyPr wrap="square" rtlCol="0">
            <a:spAutoFit/>
          </a:bodyPr>
          <a:lstStyle/>
          <a:p>
            <a:pPr algn="ctr"/>
            <a:r>
              <a:rPr lang="fr-FR" b="1" dirty="0">
                <a:solidFill>
                  <a:schemeClr val="tx1">
                    <a:lumMod val="95000"/>
                    <a:lumOff val="5000"/>
                  </a:schemeClr>
                </a:solidFill>
              </a:rPr>
              <a:t>Outil : Talend Open Studio</a:t>
            </a:r>
            <a:endParaRPr lang="fr-FR" dirty="0"/>
          </a:p>
        </p:txBody>
      </p:sp>
      <p:pic>
        <p:nvPicPr>
          <p:cNvPr id="13" name="Image 12">
            <a:extLst>
              <a:ext uri="{FF2B5EF4-FFF2-40B4-BE49-F238E27FC236}">
                <a16:creationId xmlns:a16="http://schemas.microsoft.com/office/drawing/2014/main" id="{C614B326-B244-E26D-746F-DA9F405327E9}"/>
              </a:ext>
            </a:extLst>
          </p:cNvPr>
          <p:cNvPicPr>
            <a:picLocks noChangeAspect="1"/>
          </p:cNvPicPr>
          <p:nvPr/>
        </p:nvPicPr>
        <p:blipFill>
          <a:blip r:embed="rId3"/>
          <a:stretch>
            <a:fillRect/>
          </a:stretch>
        </p:blipFill>
        <p:spPr>
          <a:xfrm>
            <a:off x="7562335" y="2957925"/>
            <a:ext cx="1433383" cy="1343414"/>
          </a:xfrm>
          <a:prstGeom prst="rect">
            <a:avLst/>
          </a:prstGeom>
        </p:spPr>
      </p:pic>
      <p:sp>
        <p:nvSpPr>
          <p:cNvPr id="14" name="ZoneTexte 13">
            <a:extLst>
              <a:ext uri="{FF2B5EF4-FFF2-40B4-BE49-F238E27FC236}">
                <a16:creationId xmlns:a16="http://schemas.microsoft.com/office/drawing/2014/main" id="{241557BE-083F-DAE1-4B98-BF67A0788A75}"/>
              </a:ext>
            </a:extLst>
          </p:cNvPr>
          <p:cNvSpPr txBox="1"/>
          <p:nvPr/>
        </p:nvSpPr>
        <p:spPr>
          <a:xfrm>
            <a:off x="7358448" y="2547013"/>
            <a:ext cx="1729946" cy="369332"/>
          </a:xfrm>
          <a:prstGeom prst="rect">
            <a:avLst/>
          </a:prstGeom>
          <a:noFill/>
        </p:spPr>
        <p:txBody>
          <a:bodyPr wrap="square" rtlCol="0">
            <a:spAutoFit/>
          </a:bodyPr>
          <a:lstStyle/>
          <a:p>
            <a:pPr algn="ctr"/>
            <a:r>
              <a:rPr lang="fr-FR" b="1" dirty="0" err="1"/>
              <a:t>draw.io</a:t>
            </a:r>
            <a:r>
              <a:rPr lang="fr-FR"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A627DE-82B0-3014-D6BF-14556C07DFB5}"/>
              </a:ext>
            </a:extLst>
          </p:cNvPr>
          <p:cNvSpPr>
            <a:spLocks noGrp="1"/>
          </p:cNvSpPr>
          <p:nvPr>
            <p:ph type="title"/>
          </p:nvPr>
        </p:nvSpPr>
        <p:spPr/>
        <p:txBody>
          <a:bodyPr/>
          <a:lstStyle/>
          <a:p>
            <a:r>
              <a:rPr lang="fr-FR" sz="3200" b="1" dirty="0">
                <a:solidFill>
                  <a:schemeClr val="tx1">
                    <a:lumMod val="95000"/>
                    <a:lumOff val="5000"/>
                  </a:schemeClr>
                </a:solidFill>
              </a:rPr>
              <a:t>Sommaire</a:t>
            </a:r>
          </a:p>
        </p:txBody>
      </p:sp>
      <p:sp>
        <p:nvSpPr>
          <p:cNvPr id="3" name="Espace réservé du contenu 2">
            <a:extLst>
              <a:ext uri="{FF2B5EF4-FFF2-40B4-BE49-F238E27FC236}">
                <a16:creationId xmlns:a16="http://schemas.microsoft.com/office/drawing/2014/main" id="{D240D086-8D8D-8D11-EE2B-1492AA25B698}"/>
              </a:ext>
            </a:extLst>
          </p:cNvPr>
          <p:cNvSpPr>
            <a:spLocks noGrp="1"/>
          </p:cNvSpPr>
          <p:nvPr>
            <p:ph idx="1"/>
          </p:nvPr>
        </p:nvSpPr>
        <p:spPr/>
        <p:txBody>
          <a:bodyPr>
            <a:normAutofit/>
          </a:bodyPr>
          <a:lstStyle/>
          <a:p>
            <a:r>
              <a:rPr lang="fr-FR" sz="2400" dirty="0"/>
              <a:t>🎯 </a:t>
            </a:r>
            <a:r>
              <a:rPr lang="fr-FR" sz="2400" b="1" dirty="0"/>
              <a:t>Objectif du projet</a:t>
            </a:r>
          </a:p>
          <a:p>
            <a:pPr marL="0" indent="0">
              <a:buNone/>
            </a:pPr>
            <a:endParaRPr lang="fr-FR" sz="2400" dirty="0"/>
          </a:p>
          <a:p>
            <a:r>
              <a:rPr lang="fr-FR" sz="2400" dirty="0"/>
              <a:t>🧩 </a:t>
            </a:r>
            <a:r>
              <a:rPr lang="fr-FR" sz="2400" b="1" dirty="0"/>
              <a:t>Schéma du processus</a:t>
            </a:r>
          </a:p>
          <a:p>
            <a:pPr marL="0" indent="0">
              <a:buNone/>
            </a:pPr>
            <a:endParaRPr lang="fr-FR" sz="2400" dirty="0"/>
          </a:p>
          <a:p>
            <a:r>
              <a:rPr lang="fr-FR" sz="2400" dirty="0"/>
              <a:t>📊 </a:t>
            </a:r>
            <a:r>
              <a:rPr lang="fr-FR" sz="2400" b="1" dirty="0"/>
              <a:t>Résultats obtenus</a:t>
            </a:r>
          </a:p>
          <a:p>
            <a:pPr marL="0" indent="0">
              <a:buNone/>
            </a:pPr>
            <a:endParaRPr lang="fr-FR" sz="2400" dirty="0"/>
          </a:p>
          <a:p>
            <a:r>
              <a:rPr lang="fr-FR" sz="2400" dirty="0"/>
              <a:t>✅ </a:t>
            </a:r>
            <a:r>
              <a:rPr lang="fr-FR" sz="2400" b="1" dirty="0"/>
              <a:t>Conclusion</a:t>
            </a:r>
            <a:endParaRPr lang="fr-FR" sz="2400" dirty="0"/>
          </a:p>
          <a:p>
            <a:endParaRPr lang="fr-FR" dirty="0"/>
          </a:p>
        </p:txBody>
      </p:sp>
    </p:spTree>
    <p:extLst>
      <p:ext uri="{BB962C8B-B14F-4D97-AF65-F5344CB8AC3E}">
        <p14:creationId xmlns:p14="http://schemas.microsoft.com/office/powerpoint/2010/main" val="1027188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2800" b="1">
                <a:solidFill>
                  <a:srgbClr val="0073B7"/>
                </a:solidFill>
              </a:defRPr>
            </a:pPr>
            <a:r>
              <a:rPr lang="fr-FR" sz="3200" dirty="0"/>
              <a:t>🎯 </a:t>
            </a:r>
            <a:r>
              <a:rPr lang="fr-FR" sz="3200" noProof="0" dirty="0">
                <a:solidFill>
                  <a:schemeClr val="tx1">
                    <a:lumMod val="95000"/>
                    <a:lumOff val="5000"/>
                  </a:schemeClr>
                </a:solidFill>
              </a:rPr>
              <a:t>Objectif du projet</a:t>
            </a:r>
          </a:p>
        </p:txBody>
      </p:sp>
      <p:sp>
        <p:nvSpPr>
          <p:cNvPr id="3" name="Content Placeholder 2"/>
          <p:cNvSpPr>
            <a:spLocks noGrp="1"/>
          </p:cNvSpPr>
          <p:nvPr>
            <p:ph idx="1"/>
          </p:nvPr>
        </p:nvSpPr>
        <p:spPr/>
        <p:txBody>
          <a:bodyPr>
            <a:normAutofit/>
          </a:bodyPr>
          <a:lstStyle/>
          <a:p>
            <a:pPr marL="0" indent="0">
              <a:buNone/>
              <a:defRPr sz="1800"/>
            </a:pPr>
            <a:r>
              <a:rPr lang="fr-FR" sz="2400" b="1" noProof="0" dirty="0"/>
              <a:t>Importer et consolider 3 sources de données :</a:t>
            </a:r>
          </a:p>
          <a:p>
            <a:pPr marL="0" indent="0">
              <a:buNone/>
              <a:defRPr sz="1800"/>
            </a:pPr>
            <a:endParaRPr lang="fr-FR" sz="2400" b="1" dirty="0"/>
          </a:p>
          <a:p>
            <a:pPr marL="857250" lvl="1" indent="-457200">
              <a:buFont typeface="+mj-lt"/>
              <a:buAutoNum type="arabicPeriod"/>
              <a:defRPr sz="1800"/>
            </a:pPr>
            <a:r>
              <a:rPr lang="fr-FR" sz="2400" b="1" noProof="0" dirty="0"/>
              <a:t>CRM : informations clients</a:t>
            </a:r>
          </a:p>
          <a:p>
            <a:pPr marL="857250" lvl="1" indent="-457200">
              <a:buFont typeface="+mj-lt"/>
              <a:buAutoNum type="arabicPeriod"/>
              <a:defRPr sz="1800"/>
            </a:pPr>
            <a:r>
              <a:rPr lang="fr-FR" sz="2400" b="1" noProof="0" dirty="0"/>
              <a:t>ERP : commandes internes</a:t>
            </a:r>
          </a:p>
          <a:p>
            <a:pPr marL="857250" lvl="1" indent="-457200">
              <a:buFont typeface="+mj-lt"/>
              <a:buAutoNum type="arabicPeriod"/>
              <a:defRPr sz="1800"/>
            </a:pPr>
            <a:r>
              <a:rPr lang="fr-FR" sz="2400" b="1" noProof="0" dirty="0"/>
              <a:t>E-commerce : ventes en ligne</a:t>
            </a:r>
          </a:p>
          <a:p>
            <a:pPr marL="0" indent="0">
              <a:buNone/>
              <a:defRPr sz="1800"/>
            </a:pPr>
            <a:endParaRPr lang="fr-FR" sz="2400" b="1" dirty="0"/>
          </a:p>
          <a:p>
            <a:pPr marL="0" indent="0">
              <a:buNone/>
              <a:defRPr sz="1800"/>
            </a:pPr>
            <a:r>
              <a:rPr lang="fr-FR" sz="2400" b="1" dirty="0"/>
              <a:t>L’objectif final du projet est de créer une table client nettoyée fiable et opérationnelle en centralisant les données via un processus ETL automatisé ayant pour objectif de de faciliter la prise de décision.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05406-33CF-F055-13F6-6EEB03ED4E94}"/>
            </a:ext>
          </a:extLst>
        </p:cNvPr>
        <p:cNvGrpSpPr/>
        <p:nvPr/>
      </p:nvGrpSpPr>
      <p:grpSpPr>
        <a:xfrm>
          <a:off x="0" y="0"/>
          <a:ext cx="0" cy="0"/>
          <a:chOff x="0" y="0"/>
          <a:chExt cx="0" cy="0"/>
        </a:xfrm>
      </p:grpSpPr>
      <p:sp>
        <p:nvSpPr>
          <p:cNvPr id="25" name="ZoneTexte 24">
            <a:extLst>
              <a:ext uri="{FF2B5EF4-FFF2-40B4-BE49-F238E27FC236}">
                <a16:creationId xmlns:a16="http://schemas.microsoft.com/office/drawing/2014/main" id="{C46C9B81-1BB2-E155-1CFE-A076853AB876}"/>
              </a:ext>
            </a:extLst>
          </p:cNvPr>
          <p:cNvSpPr txBox="1"/>
          <p:nvPr/>
        </p:nvSpPr>
        <p:spPr>
          <a:xfrm>
            <a:off x="5844746" y="914399"/>
            <a:ext cx="2965622" cy="923330"/>
          </a:xfrm>
          <a:prstGeom prst="rect">
            <a:avLst/>
          </a:prstGeom>
          <a:noFill/>
        </p:spPr>
        <p:txBody>
          <a:bodyPr wrap="square" rtlCol="0">
            <a:spAutoFit/>
          </a:bodyPr>
          <a:lstStyle/>
          <a:p>
            <a:pPr marL="285750" indent="-285750">
              <a:buFont typeface="Arial" panose="020B0604020202020204" pitchFamily="34" charset="0"/>
              <a:buChar char="•"/>
            </a:pPr>
            <a:r>
              <a:rPr lang="fr-FR" b="1" dirty="0">
                <a:solidFill>
                  <a:schemeClr val="tx1">
                    <a:lumMod val="95000"/>
                    <a:lumOff val="5000"/>
                  </a:schemeClr>
                </a:solidFill>
              </a:rPr>
              <a:t>Fichiers sources :</a:t>
            </a:r>
          </a:p>
          <a:p>
            <a:r>
              <a:rPr lang="fr-FR" b="1" dirty="0">
                <a:solidFill>
                  <a:schemeClr val="tx1">
                    <a:lumMod val="95000"/>
                    <a:lumOff val="5000"/>
                  </a:schemeClr>
                </a:solidFill>
              </a:rPr>
              <a:t>	CRM -&gt; informations clients </a:t>
            </a:r>
            <a:endParaRPr lang="fr-FR" dirty="0"/>
          </a:p>
        </p:txBody>
      </p:sp>
      <p:pic>
        <p:nvPicPr>
          <p:cNvPr id="29" name="Espace réservé du contenu 28">
            <a:extLst>
              <a:ext uri="{FF2B5EF4-FFF2-40B4-BE49-F238E27FC236}">
                <a16:creationId xmlns:a16="http://schemas.microsoft.com/office/drawing/2014/main" id="{96C5A275-BD91-CCEF-1DA3-08B60DDC5270}"/>
              </a:ext>
            </a:extLst>
          </p:cNvPr>
          <p:cNvPicPr>
            <a:picLocks noGrp="1" noChangeAspect="1"/>
          </p:cNvPicPr>
          <p:nvPr>
            <p:ph idx="1"/>
          </p:nvPr>
        </p:nvPicPr>
        <p:blipFill>
          <a:blip r:embed="rId2"/>
          <a:stretch>
            <a:fillRect/>
          </a:stretch>
        </p:blipFill>
        <p:spPr>
          <a:xfrm>
            <a:off x="0" y="-275"/>
            <a:ext cx="5511114" cy="6858275"/>
          </a:xfrm>
        </p:spPr>
      </p:pic>
    </p:spTree>
    <p:extLst>
      <p:ext uri="{BB962C8B-B14F-4D97-AF65-F5344CB8AC3E}">
        <p14:creationId xmlns:p14="http://schemas.microsoft.com/office/powerpoint/2010/main" val="1978052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B9F96-5096-E8CB-12B8-6C2C687708FD}"/>
            </a:ext>
          </a:extLst>
        </p:cNvPr>
        <p:cNvGrpSpPr/>
        <p:nvPr/>
      </p:nvGrpSpPr>
      <p:grpSpPr>
        <a:xfrm>
          <a:off x="0" y="0"/>
          <a:ext cx="0" cy="0"/>
          <a:chOff x="0" y="0"/>
          <a:chExt cx="0" cy="0"/>
        </a:xfrm>
      </p:grpSpPr>
      <p:pic>
        <p:nvPicPr>
          <p:cNvPr id="23" name="Image 22">
            <a:extLst>
              <a:ext uri="{FF2B5EF4-FFF2-40B4-BE49-F238E27FC236}">
                <a16:creationId xmlns:a16="http://schemas.microsoft.com/office/drawing/2014/main" id="{463B3900-2CAA-45B2-67F0-188FCA1976E5}"/>
              </a:ext>
            </a:extLst>
          </p:cNvPr>
          <p:cNvPicPr>
            <a:picLocks noChangeAspect="1"/>
          </p:cNvPicPr>
          <p:nvPr/>
        </p:nvPicPr>
        <p:blipFill>
          <a:blip r:embed="rId3"/>
          <a:stretch>
            <a:fillRect/>
          </a:stretch>
        </p:blipFill>
        <p:spPr>
          <a:xfrm>
            <a:off x="0" y="0"/>
            <a:ext cx="6289218" cy="6858000"/>
          </a:xfrm>
          <a:prstGeom prst="rect">
            <a:avLst/>
          </a:prstGeom>
        </p:spPr>
      </p:pic>
      <p:sp>
        <p:nvSpPr>
          <p:cNvPr id="25" name="ZoneTexte 24">
            <a:extLst>
              <a:ext uri="{FF2B5EF4-FFF2-40B4-BE49-F238E27FC236}">
                <a16:creationId xmlns:a16="http://schemas.microsoft.com/office/drawing/2014/main" id="{CF0D4B09-C42E-3630-E597-0E8BBAB3C6F6}"/>
              </a:ext>
            </a:extLst>
          </p:cNvPr>
          <p:cNvSpPr txBox="1"/>
          <p:nvPr/>
        </p:nvSpPr>
        <p:spPr>
          <a:xfrm>
            <a:off x="6536725" y="494268"/>
            <a:ext cx="2458994" cy="923330"/>
          </a:xfrm>
          <a:prstGeom prst="rect">
            <a:avLst/>
          </a:prstGeom>
          <a:noFill/>
        </p:spPr>
        <p:txBody>
          <a:bodyPr wrap="square" rtlCol="0">
            <a:spAutoFit/>
          </a:bodyPr>
          <a:lstStyle/>
          <a:p>
            <a:pPr marL="285750" indent="-285750">
              <a:buFont typeface="Arial" panose="020B0604020202020204" pitchFamily="34" charset="0"/>
              <a:buChar char="•"/>
            </a:pPr>
            <a:r>
              <a:rPr lang="fr-FR" b="1" dirty="0">
                <a:solidFill>
                  <a:schemeClr val="tx1">
                    <a:lumMod val="95000"/>
                    <a:lumOff val="5000"/>
                  </a:schemeClr>
                </a:solidFill>
              </a:rPr>
              <a:t>Fichiers sources :</a:t>
            </a:r>
            <a:br>
              <a:rPr lang="fr-FR" b="1" dirty="0">
                <a:solidFill>
                  <a:schemeClr val="tx1">
                    <a:lumMod val="95000"/>
                    <a:lumOff val="5000"/>
                  </a:schemeClr>
                </a:solidFill>
              </a:rPr>
            </a:br>
            <a:r>
              <a:rPr lang="fr-FR" b="1" dirty="0">
                <a:solidFill>
                  <a:schemeClr val="tx1">
                    <a:lumMod val="95000"/>
                    <a:lumOff val="5000"/>
                  </a:schemeClr>
                </a:solidFill>
              </a:rPr>
              <a:t>	ERP -&gt; commandes internes</a:t>
            </a:r>
            <a:endParaRPr lang="fr-FR" dirty="0"/>
          </a:p>
        </p:txBody>
      </p:sp>
    </p:spTree>
    <p:extLst>
      <p:ext uri="{BB962C8B-B14F-4D97-AF65-F5344CB8AC3E}">
        <p14:creationId xmlns:p14="http://schemas.microsoft.com/office/powerpoint/2010/main" val="2050369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F8DAD-F3C7-9F0D-0F5E-C1ABECD0D548}"/>
            </a:ext>
          </a:extLst>
        </p:cNvPr>
        <p:cNvGrpSpPr/>
        <p:nvPr/>
      </p:nvGrpSpPr>
      <p:grpSpPr>
        <a:xfrm>
          <a:off x="0" y="0"/>
          <a:ext cx="0" cy="0"/>
          <a:chOff x="0" y="0"/>
          <a:chExt cx="0" cy="0"/>
        </a:xfrm>
      </p:grpSpPr>
      <p:sp>
        <p:nvSpPr>
          <p:cNvPr id="25" name="ZoneTexte 24">
            <a:extLst>
              <a:ext uri="{FF2B5EF4-FFF2-40B4-BE49-F238E27FC236}">
                <a16:creationId xmlns:a16="http://schemas.microsoft.com/office/drawing/2014/main" id="{5F58ED10-1D93-38AA-8E94-21D5F99E110C}"/>
              </a:ext>
            </a:extLst>
          </p:cNvPr>
          <p:cNvSpPr txBox="1"/>
          <p:nvPr/>
        </p:nvSpPr>
        <p:spPr>
          <a:xfrm>
            <a:off x="7040949" y="494268"/>
            <a:ext cx="2103051" cy="1200329"/>
          </a:xfrm>
          <a:prstGeom prst="rect">
            <a:avLst/>
          </a:prstGeom>
          <a:noFill/>
        </p:spPr>
        <p:txBody>
          <a:bodyPr wrap="square" rtlCol="0">
            <a:spAutoFit/>
          </a:bodyPr>
          <a:lstStyle/>
          <a:p>
            <a:pPr marL="285750" indent="-285750">
              <a:buFont typeface="Arial" panose="020B0604020202020204" pitchFamily="34" charset="0"/>
              <a:buChar char="•"/>
            </a:pPr>
            <a:r>
              <a:rPr lang="fr-FR" b="1" dirty="0">
                <a:solidFill>
                  <a:schemeClr val="tx1">
                    <a:lumMod val="95000"/>
                    <a:lumOff val="5000"/>
                  </a:schemeClr>
                </a:solidFill>
              </a:rPr>
              <a:t>Fichiers sources</a:t>
            </a:r>
            <a:br>
              <a:rPr lang="fr-FR" b="1" dirty="0">
                <a:solidFill>
                  <a:schemeClr val="tx1">
                    <a:lumMod val="95000"/>
                    <a:lumOff val="5000"/>
                  </a:schemeClr>
                </a:solidFill>
              </a:rPr>
            </a:br>
            <a:r>
              <a:rPr lang="fr-FR" b="1" dirty="0">
                <a:solidFill>
                  <a:schemeClr val="tx1">
                    <a:lumMod val="95000"/>
                    <a:lumOff val="5000"/>
                  </a:schemeClr>
                </a:solidFill>
              </a:rPr>
              <a:t>	E-commerce -&gt; ventes en ligne</a:t>
            </a:r>
            <a:endParaRPr lang="fr-FR" b="1" dirty="0"/>
          </a:p>
          <a:p>
            <a:endParaRPr lang="fr-FR" dirty="0"/>
          </a:p>
        </p:txBody>
      </p:sp>
      <p:pic>
        <p:nvPicPr>
          <p:cNvPr id="2" name="Image 1">
            <a:extLst>
              <a:ext uri="{FF2B5EF4-FFF2-40B4-BE49-F238E27FC236}">
                <a16:creationId xmlns:a16="http://schemas.microsoft.com/office/drawing/2014/main" id="{9F346145-F012-F23B-51C8-AAC07134E73C}"/>
              </a:ext>
            </a:extLst>
          </p:cNvPr>
          <p:cNvPicPr>
            <a:picLocks noChangeAspect="1"/>
          </p:cNvPicPr>
          <p:nvPr/>
        </p:nvPicPr>
        <p:blipFill>
          <a:blip r:embed="rId2"/>
          <a:stretch>
            <a:fillRect/>
          </a:stretch>
        </p:blipFill>
        <p:spPr>
          <a:xfrm>
            <a:off x="0" y="0"/>
            <a:ext cx="6953251" cy="6858000"/>
          </a:xfrm>
          <a:prstGeom prst="rect">
            <a:avLst/>
          </a:prstGeom>
        </p:spPr>
      </p:pic>
    </p:spTree>
    <p:extLst>
      <p:ext uri="{BB962C8B-B14F-4D97-AF65-F5344CB8AC3E}">
        <p14:creationId xmlns:p14="http://schemas.microsoft.com/office/powerpoint/2010/main" val="3091935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2800" b="1">
                <a:solidFill>
                  <a:srgbClr val="0073B7"/>
                </a:solidFill>
              </a:defRPr>
            </a:pPr>
            <a:r>
              <a:rPr lang="fr-FR" sz="3200" dirty="0"/>
              <a:t>🧩 </a:t>
            </a:r>
            <a:r>
              <a:rPr lang="fr-FR" sz="3200" noProof="0" dirty="0">
                <a:solidFill>
                  <a:schemeClr val="tx1">
                    <a:lumMod val="95000"/>
                    <a:lumOff val="5000"/>
                  </a:schemeClr>
                </a:solidFill>
              </a:rPr>
              <a:t>Schéma du processus</a:t>
            </a:r>
          </a:p>
        </p:txBody>
      </p:sp>
      <p:pic>
        <p:nvPicPr>
          <p:cNvPr id="14" name="Image 13">
            <a:extLst>
              <a:ext uri="{FF2B5EF4-FFF2-40B4-BE49-F238E27FC236}">
                <a16:creationId xmlns:a16="http://schemas.microsoft.com/office/drawing/2014/main" id="{7D4BBF82-F403-BE19-29F5-C669C89E4D0E}"/>
              </a:ext>
            </a:extLst>
          </p:cNvPr>
          <p:cNvPicPr>
            <a:picLocks noChangeAspect="1"/>
          </p:cNvPicPr>
          <p:nvPr/>
        </p:nvPicPr>
        <p:blipFill>
          <a:blip r:embed="rId2"/>
          <a:stretch>
            <a:fillRect/>
          </a:stretch>
        </p:blipFill>
        <p:spPr>
          <a:xfrm>
            <a:off x="177710" y="1260389"/>
            <a:ext cx="8788580" cy="433722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D259B-C77F-A473-8A39-EE77A44C40B2}"/>
            </a:ext>
          </a:extLst>
        </p:cNvPr>
        <p:cNvGrpSpPr/>
        <p:nvPr/>
      </p:nvGrpSpPr>
      <p:grpSpPr>
        <a:xfrm>
          <a:off x="0" y="0"/>
          <a:ext cx="0" cy="0"/>
          <a:chOff x="0" y="0"/>
          <a:chExt cx="0" cy="0"/>
        </a:xfrm>
      </p:grpSpPr>
      <p:pic>
        <p:nvPicPr>
          <p:cNvPr id="9" name="Espace réservé du contenu 8">
            <a:extLst>
              <a:ext uri="{FF2B5EF4-FFF2-40B4-BE49-F238E27FC236}">
                <a16:creationId xmlns:a16="http://schemas.microsoft.com/office/drawing/2014/main" id="{E16184AF-F61F-FABF-34BC-A4ADE9ADFE79}"/>
              </a:ext>
            </a:extLst>
          </p:cNvPr>
          <p:cNvPicPr>
            <a:picLocks noGrp="1" noChangeAspect="1"/>
          </p:cNvPicPr>
          <p:nvPr>
            <p:ph idx="1"/>
          </p:nvPr>
        </p:nvPicPr>
        <p:blipFill>
          <a:blip r:embed="rId2"/>
          <a:stretch>
            <a:fillRect/>
          </a:stretch>
        </p:blipFill>
        <p:spPr>
          <a:xfrm>
            <a:off x="0" y="1415792"/>
            <a:ext cx="5968313" cy="4026416"/>
          </a:xfrm>
        </p:spPr>
      </p:pic>
      <p:sp>
        <p:nvSpPr>
          <p:cNvPr id="11" name="ZoneTexte 10">
            <a:extLst>
              <a:ext uri="{FF2B5EF4-FFF2-40B4-BE49-F238E27FC236}">
                <a16:creationId xmlns:a16="http://schemas.microsoft.com/office/drawing/2014/main" id="{B207A08F-0BD7-DA3D-86A9-FA87268AA36F}"/>
              </a:ext>
            </a:extLst>
          </p:cNvPr>
          <p:cNvSpPr txBox="1"/>
          <p:nvPr/>
        </p:nvSpPr>
        <p:spPr>
          <a:xfrm>
            <a:off x="6079525" y="1415792"/>
            <a:ext cx="3064475" cy="4524315"/>
          </a:xfrm>
          <a:prstGeom prst="rect">
            <a:avLst/>
          </a:prstGeom>
          <a:noFill/>
        </p:spPr>
        <p:txBody>
          <a:bodyPr wrap="square" rtlCol="0">
            <a:spAutoFit/>
          </a:bodyPr>
          <a:lstStyle/>
          <a:p>
            <a:pPr marL="285750" indent="-285750">
              <a:buFont typeface="Arial" panose="020B0604020202020204" pitchFamily="34" charset="0"/>
              <a:buChar char="•"/>
            </a:pPr>
            <a:r>
              <a:rPr lang="fr-FR" b="1" dirty="0"/>
              <a:t>Importation des fichiers CSV via le composant </a:t>
            </a:r>
            <a:r>
              <a:rPr lang="fr-FR" b="1" dirty="0" err="1"/>
              <a:t>tFileInputDelimited</a:t>
            </a:r>
            <a:endParaRPr lang="fr-FR" b="1" dirty="0"/>
          </a:p>
          <a:p>
            <a:pPr marL="285750" indent="-285750">
              <a:buFont typeface="Arial" panose="020B0604020202020204" pitchFamily="34" charset="0"/>
              <a:buChar char="•"/>
            </a:pPr>
            <a:endParaRPr lang="fr-FR" b="1" dirty="0"/>
          </a:p>
          <a:p>
            <a:pPr marL="285750" indent="-285750">
              <a:buFont typeface="Arial" panose="020B0604020202020204" pitchFamily="34" charset="0"/>
              <a:buChar char="•"/>
            </a:pPr>
            <a:r>
              <a:rPr lang="fr-FR" b="1" dirty="0"/>
              <a:t>Nettoyage colonne </a:t>
            </a:r>
            <a:r>
              <a:rPr lang="fr-FR" b="1" dirty="0" err="1"/>
              <a:t>total_spent</a:t>
            </a:r>
            <a:r>
              <a:rPr lang="fr-FR" b="1" dirty="0"/>
              <a:t> sur </a:t>
            </a:r>
            <a:r>
              <a:rPr lang="fr-FR" b="1" dirty="0" err="1"/>
              <a:t>Ecommerce</a:t>
            </a:r>
            <a:endParaRPr lang="fr-FR" b="1" dirty="0"/>
          </a:p>
          <a:p>
            <a:pPr marL="285750" indent="-285750">
              <a:buFont typeface="Arial" panose="020B0604020202020204" pitchFamily="34" charset="0"/>
              <a:buChar char="•"/>
            </a:pPr>
            <a:endParaRPr lang="fr-FR" b="1" dirty="0"/>
          </a:p>
          <a:p>
            <a:pPr marL="285750" indent="-285750">
              <a:buFont typeface="Arial" panose="020B0604020202020204" pitchFamily="34" charset="0"/>
              <a:buChar char="•"/>
            </a:pPr>
            <a:r>
              <a:rPr lang="fr-FR" b="1" dirty="0" err="1"/>
              <a:t>Netttoyage</a:t>
            </a:r>
            <a:r>
              <a:rPr lang="fr-FR" b="1" dirty="0"/>
              <a:t> des doublons sur CRM avec Clean double</a:t>
            </a:r>
          </a:p>
          <a:p>
            <a:pPr marL="285750" indent="-285750">
              <a:buFont typeface="Arial" panose="020B0604020202020204" pitchFamily="34" charset="0"/>
              <a:buChar char="•"/>
            </a:pPr>
            <a:endParaRPr lang="fr-FR" b="1" dirty="0"/>
          </a:p>
          <a:p>
            <a:pPr marL="285750" indent="-285750">
              <a:buFont typeface="Arial" panose="020B0604020202020204" pitchFamily="34" charset="0"/>
              <a:buChar char="•"/>
            </a:pPr>
            <a:r>
              <a:rPr lang="fr-FR" b="1" dirty="0"/>
              <a:t>Nettoyage de la colonne </a:t>
            </a:r>
            <a:r>
              <a:rPr lang="fr-FR" b="1" dirty="0" err="1"/>
              <a:t>revenu_annuel</a:t>
            </a:r>
            <a:endParaRPr lang="fr-FR" b="1" dirty="0"/>
          </a:p>
          <a:p>
            <a:pPr marL="285750" indent="-285750">
              <a:buFont typeface="Arial" panose="020B0604020202020204" pitchFamily="34" charset="0"/>
              <a:buChar char="•"/>
            </a:pPr>
            <a:endParaRPr lang="fr-FR" b="1" dirty="0"/>
          </a:p>
          <a:p>
            <a:pPr marL="285750" indent="-285750">
              <a:buFont typeface="Arial" panose="020B0604020202020204" pitchFamily="34" charset="0"/>
              <a:buChar char="•"/>
            </a:pPr>
            <a:r>
              <a:rPr lang="fr-FR" b="1" dirty="0"/>
              <a:t>Composant </a:t>
            </a:r>
            <a:r>
              <a:rPr lang="fr-FR" b="1" dirty="0" err="1"/>
              <a:t>tLogRow</a:t>
            </a:r>
            <a:r>
              <a:rPr lang="fr-FR" b="1" dirty="0"/>
              <a:t> pour visualisation des données </a:t>
            </a:r>
          </a:p>
          <a:p>
            <a:endParaRPr lang="fr-FR" dirty="0"/>
          </a:p>
        </p:txBody>
      </p:sp>
    </p:spTree>
    <p:extLst>
      <p:ext uri="{BB962C8B-B14F-4D97-AF65-F5344CB8AC3E}">
        <p14:creationId xmlns:p14="http://schemas.microsoft.com/office/powerpoint/2010/main" val="1882117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BD4DD-8797-3619-4C28-3E3BB15E438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19D43CB-076D-BAA7-82F5-68E5309EE381}"/>
              </a:ext>
            </a:extLst>
          </p:cNvPr>
          <p:cNvSpPr>
            <a:spLocks noGrp="1"/>
          </p:cNvSpPr>
          <p:nvPr>
            <p:ph type="title"/>
          </p:nvPr>
        </p:nvSpPr>
        <p:spPr>
          <a:xfrm>
            <a:off x="457200" y="274638"/>
            <a:ext cx="8229600" cy="1143000"/>
          </a:xfrm>
        </p:spPr>
        <p:txBody>
          <a:bodyPr>
            <a:normAutofit/>
          </a:bodyPr>
          <a:lstStyle/>
          <a:p>
            <a:pPr>
              <a:defRPr sz="2800" b="1">
                <a:solidFill>
                  <a:srgbClr val="0073B7"/>
                </a:solidFill>
              </a:defRPr>
            </a:pPr>
            <a:r>
              <a:rPr lang="fr-FR" sz="3200" dirty="0"/>
              <a:t>📊 </a:t>
            </a:r>
            <a:r>
              <a:rPr sz="3200" dirty="0" err="1">
                <a:solidFill>
                  <a:schemeClr val="tx1">
                    <a:lumMod val="95000"/>
                    <a:lumOff val="5000"/>
                  </a:schemeClr>
                </a:solidFill>
              </a:rPr>
              <a:t>Résultats</a:t>
            </a:r>
            <a:r>
              <a:rPr sz="3200" dirty="0">
                <a:solidFill>
                  <a:schemeClr val="tx1">
                    <a:lumMod val="95000"/>
                    <a:lumOff val="5000"/>
                  </a:schemeClr>
                </a:solidFill>
              </a:rPr>
              <a:t> </a:t>
            </a:r>
            <a:r>
              <a:rPr sz="3200" dirty="0" err="1">
                <a:solidFill>
                  <a:schemeClr val="tx1">
                    <a:lumMod val="95000"/>
                    <a:lumOff val="5000"/>
                  </a:schemeClr>
                </a:solidFill>
              </a:rPr>
              <a:t>obtenus</a:t>
            </a:r>
            <a:endParaRPr sz="3200" dirty="0">
              <a:solidFill>
                <a:schemeClr val="tx1">
                  <a:lumMod val="95000"/>
                  <a:lumOff val="5000"/>
                </a:schemeClr>
              </a:solidFill>
            </a:endParaRPr>
          </a:p>
        </p:txBody>
      </p:sp>
      <p:pic>
        <p:nvPicPr>
          <p:cNvPr id="12" name="Image 11">
            <a:extLst>
              <a:ext uri="{FF2B5EF4-FFF2-40B4-BE49-F238E27FC236}">
                <a16:creationId xmlns:a16="http://schemas.microsoft.com/office/drawing/2014/main" id="{665EF796-1F9B-390D-F5B1-EA11AF01CDFF}"/>
              </a:ext>
            </a:extLst>
          </p:cNvPr>
          <p:cNvPicPr>
            <a:picLocks noChangeAspect="1"/>
          </p:cNvPicPr>
          <p:nvPr/>
        </p:nvPicPr>
        <p:blipFill>
          <a:blip r:embed="rId2"/>
          <a:stretch>
            <a:fillRect/>
          </a:stretch>
        </p:blipFill>
        <p:spPr>
          <a:xfrm>
            <a:off x="1" y="1778001"/>
            <a:ext cx="9144000" cy="5080000"/>
          </a:xfrm>
          <a:prstGeom prst="rect">
            <a:avLst/>
          </a:prstGeom>
        </p:spPr>
      </p:pic>
    </p:spTree>
    <p:extLst>
      <p:ext uri="{BB962C8B-B14F-4D97-AF65-F5344CB8AC3E}">
        <p14:creationId xmlns:p14="http://schemas.microsoft.com/office/powerpoint/2010/main" val="3107409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69DC1-D420-466A-13D6-7D3FC678372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86C1137-1313-348B-E784-C918922BD725}"/>
              </a:ext>
            </a:extLst>
          </p:cNvPr>
          <p:cNvSpPr>
            <a:spLocks noGrp="1"/>
          </p:cNvSpPr>
          <p:nvPr>
            <p:ph type="title"/>
          </p:nvPr>
        </p:nvSpPr>
        <p:spPr>
          <a:xfrm>
            <a:off x="457200" y="274638"/>
            <a:ext cx="8229600" cy="1143000"/>
          </a:xfrm>
        </p:spPr>
        <p:txBody>
          <a:bodyPr>
            <a:normAutofit/>
          </a:bodyPr>
          <a:lstStyle/>
          <a:p>
            <a:pPr>
              <a:defRPr sz="2800" b="1">
                <a:solidFill>
                  <a:srgbClr val="0073B7"/>
                </a:solidFill>
              </a:defRPr>
            </a:pPr>
            <a:r>
              <a:rPr lang="fr-FR" sz="3200" dirty="0"/>
              <a:t>📊 </a:t>
            </a:r>
            <a:r>
              <a:rPr sz="3200" dirty="0" err="1">
                <a:solidFill>
                  <a:schemeClr val="tx1">
                    <a:lumMod val="95000"/>
                    <a:lumOff val="5000"/>
                  </a:schemeClr>
                </a:solidFill>
              </a:rPr>
              <a:t>Résultats</a:t>
            </a:r>
            <a:r>
              <a:rPr sz="3200" dirty="0">
                <a:solidFill>
                  <a:schemeClr val="tx1">
                    <a:lumMod val="95000"/>
                    <a:lumOff val="5000"/>
                  </a:schemeClr>
                </a:solidFill>
              </a:rPr>
              <a:t> </a:t>
            </a:r>
            <a:r>
              <a:rPr sz="3200" dirty="0" err="1">
                <a:solidFill>
                  <a:schemeClr val="tx1">
                    <a:lumMod val="95000"/>
                    <a:lumOff val="5000"/>
                  </a:schemeClr>
                </a:solidFill>
              </a:rPr>
              <a:t>obtenus</a:t>
            </a:r>
            <a:endParaRPr sz="3200" dirty="0">
              <a:solidFill>
                <a:schemeClr val="tx1">
                  <a:lumMod val="95000"/>
                  <a:lumOff val="5000"/>
                </a:schemeClr>
              </a:solidFill>
            </a:endParaRPr>
          </a:p>
        </p:txBody>
      </p:sp>
      <p:pic>
        <p:nvPicPr>
          <p:cNvPr id="8" name="Image 7">
            <a:extLst>
              <a:ext uri="{FF2B5EF4-FFF2-40B4-BE49-F238E27FC236}">
                <a16:creationId xmlns:a16="http://schemas.microsoft.com/office/drawing/2014/main" id="{DA3DB86E-6FF3-CBC3-2E08-A67764049783}"/>
              </a:ext>
            </a:extLst>
          </p:cNvPr>
          <p:cNvPicPr>
            <a:picLocks noChangeAspect="1"/>
          </p:cNvPicPr>
          <p:nvPr/>
        </p:nvPicPr>
        <p:blipFill>
          <a:blip r:embed="rId2"/>
          <a:stretch>
            <a:fillRect/>
          </a:stretch>
        </p:blipFill>
        <p:spPr>
          <a:xfrm>
            <a:off x="905" y="2075935"/>
            <a:ext cx="9143095" cy="4782065"/>
          </a:xfrm>
          <a:prstGeom prst="rect">
            <a:avLst/>
          </a:prstGeom>
        </p:spPr>
      </p:pic>
    </p:spTree>
    <p:extLst>
      <p:ext uri="{BB962C8B-B14F-4D97-AF65-F5344CB8AC3E}">
        <p14:creationId xmlns:p14="http://schemas.microsoft.com/office/powerpoint/2010/main" val="2915568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840A9-B087-8F02-DDC4-F1E4E834C965}"/>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85F8F683-D3AB-CD35-E102-FFC2E92D06C0}"/>
              </a:ext>
            </a:extLst>
          </p:cNvPr>
          <p:cNvPicPr>
            <a:picLocks noChangeAspect="1"/>
          </p:cNvPicPr>
          <p:nvPr/>
        </p:nvPicPr>
        <p:blipFill>
          <a:blip r:embed="rId2"/>
          <a:stretch>
            <a:fillRect/>
          </a:stretch>
        </p:blipFill>
        <p:spPr>
          <a:xfrm>
            <a:off x="0" y="0"/>
            <a:ext cx="9144000" cy="7018338"/>
          </a:xfrm>
          <a:prstGeom prst="rect">
            <a:avLst/>
          </a:prstGeom>
        </p:spPr>
      </p:pic>
    </p:spTree>
    <p:extLst>
      <p:ext uri="{BB962C8B-B14F-4D97-AF65-F5344CB8AC3E}">
        <p14:creationId xmlns:p14="http://schemas.microsoft.com/office/powerpoint/2010/main" val="1878831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3F2C7-7810-D532-0CD0-70326C9DF3A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FD0A3A0-6EDB-5E3D-780C-308A94D0EFE4}"/>
              </a:ext>
            </a:extLst>
          </p:cNvPr>
          <p:cNvSpPr>
            <a:spLocks noGrp="1"/>
          </p:cNvSpPr>
          <p:nvPr>
            <p:ph type="title"/>
          </p:nvPr>
        </p:nvSpPr>
        <p:spPr>
          <a:xfrm>
            <a:off x="457200" y="0"/>
            <a:ext cx="8229600" cy="1143000"/>
          </a:xfrm>
        </p:spPr>
        <p:txBody>
          <a:bodyPr>
            <a:normAutofit/>
          </a:bodyPr>
          <a:lstStyle/>
          <a:p>
            <a:pPr>
              <a:defRPr sz="2800" b="1">
                <a:solidFill>
                  <a:srgbClr val="0073B7"/>
                </a:solidFill>
              </a:defRPr>
            </a:pPr>
            <a:r>
              <a:rPr lang="fr-FR" sz="3200" dirty="0"/>
              <a:t>📊 </a:t>
            </a:r>
            <a:r>
              <a:rPr sz="3200" dirty="0" err="1">
                <a:solidFill>
                  <a:schemeClr val="tx1">
                    <a:lumMod val="95000"/>
                    <a:lumOff val="5000"/>
                  </a:schemeClr>
                </a:solidFill>
              </a:rPr>
              <a:t>Résultats</a:t>
            </a:r>
            <a:r>
              <a:rPr sz="3200" dirty="0">
                <a:solidFill>
                  <a:schemeClr val="tx1">
                    <a:lumMod val="95000"/>
                    <a:lumOff val="5000"/>
                  </a:schemeClr>
                </a:solidFill>
              </a:rPr>
              <a:t> </a:t>
            </a:r>
            <a:r>
              <a:rPr sz="3200" dirty="0" err="1">
                <a:solidFill>
                  <a:schemeClr val="tx1">
                    <a:lumMod val="95000"/>
                    <a:lumOff val="5000"/>
                  </a:schemeClr>
                </a:solidFill>
              </a:rPr>
              <a:t>obtenus</a:t>
            </a:r>
            <a:endParaRPr sz="3200" dirty="0">
              <a:solidFill>
                <a:schemeClr val="tx1">
                  <a:lumMod val="95000"/>
                  <a:lumOff val="5000"/>
                </a:schemeClr>
              </a:solidFill>
            </a:endParaRPr>
          </a:p>
        </p:txBody>
      </p:sp>
      <p:pic>
        <p:nvPicPr>
          <p:cNvPr id="5" name="Image 4">
            <a:extLst>
              <a:ext uri="{FF2B5EF4-FFF2-40B4-BE49-F238E27FC236}">
                <a16:creationId xmlns:a16="http://schemas.microsoft.com/office/drawing/2014/main" id="{70247A11-36FF-0BFE-34D7-95036F8F4BBD}"/>
              </a:ext>
            </a:extLst>
          </p:cNvPr>
          <p:cNvPicPr>
            <a:picLocks noChangeAspect="1"/>
          </p:cNvPicPr>
          <p:nvPr/>
        </p:nvPicPr>
        <p:blipFill>
          <a:blip r:embed="rId2"/>
          <a:stretch>
            <a:fillRect/>
          </a:stretch>
        </p:blipFill>
        <p:spPr>
          <a:xfrm>
            <a:off x="0" y="921319"/>
            <a:ext cx="9144000" cy="5936681"/>
          </a:xfrm>
          <a:prstGeom prst="rect">
            <a:avLst/>
          </a:prstGeom>
        </p:spPr>
      </p:pic>
    </p:spTree>
    <p:extLst>
      <p:ext uri="{BB962C8B-B14F-4D97-AF65-F5344CB8AC3E}">
        <p14:creationId xmlns:p14="http://schemas.microsoft.com/office/powerpoint/2010/main" val="2070070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2E30F-DCE0-542B-5A69-F1CE50DE9D3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28A8D8D-33A2-865E-8B73-71477812CFE4}"/>
              </a:ext>
            </a:extLst>
          </p:cNvPr>
          <p:cNvSpPr>
            <a:spLocks noGrp="1"/>
          </p:cNvSpPr>
          <p:nvPr>
            <p:ph type="title"/>
          </p:nvPr>
        </p:nvSpPr>
        <p:spPr>
          <a:xfrm>
            <a:off x="457200" y="0"/>
            <a:ext cx="8229600" cy="1143000"/>
          </a:xfrm>
        </p:spPr>
        <p:txBody>
          <a:bodyPr>
            <a:normAutofit/>
          </a:bodyPr>
          <a:lstStyle/>
          <a:p>
            <a:pPr>
              <a:defRPr sz="2800" b="1">
                <a:solidFill>
                  <a:srgbClr val="0073B7"/>
                </a:solidFill>
              </a:defRPr>
            </a:pPr>
            <a:r>
              <a:rPr lang="fr-FR" sz="3200" dirty="0"/>
              <a:t>📊 </a:t>
            </a:r>
            <a:r>
              <a:rPr sz="3200" dirty="0" err="1">
                <a:solidFill>
                  <a:schemeClr val="tx1">
                    <a:lumMod val="95000"/>
                    <a:lumOff val="5000"/>
                  </a:schemeClr>
                </a:solidFill>
              </a:rPr>
              <a:t>Résultats</a:t>
            </a:r>
            <a:r>
              <a:rPr sz="3200" dirty="0">
                <a:solidFill>
                  <a:schemeClr val="tx1">
                    <a:lumMod val="95000"/>
                    <a:lumOff val="5000"/>
                  </a:schemeClr>
                </a:solidFill>
              </a:rPr>
              <a:t> </a:t>
            </a:r>
            <a:r>
              <a:rPr sz="3200" dirty="0" err="1">
                <a:solidFill>
                  <a:schemeClr val="tx1">
                    <a:lumMod val="95000"/>
                    <a:lumOff val="5000"/>
                  </a:schemeClr>
                </a:solidFill>
              </a:rPr>
              <a:t>obtenus</a:t>
            </a:r>
            <a:endParaRPr sz="3200" dirty="0">
              <a:solidFill>
                <a:schemeClr val="tx1">
                  <a:lumMod val="95000"/>
                  <a:lumOff val="5000"/>
                </a:schemeClr>
              </a:solidFill>
            </a:endParaRPr>
          </a:p>
        </p:txBody>
      </p:sp>
      <p:pic>
        <p:nvPicPr>
          <p:cNvPr id="3" name="Image 2">
            <a:extLst>
              <a:ext uri="{FF2B5EF4-FFF2-40B4-BE49-F238E27FC236}">
                <a16:creationId xmlns:a16="http://schemas.microsoft.com/office/drawing/2014/main" id="{DBA54A2D-7A0C-C80B-E733-4B4326EF864E}"/>
              </a:ext>
            </a:extLst>
          </p:cNvPr>
          <p:cNvPicPr>
            <a:picLocks noChangeAspect="1"/>
          </p:cNvPicPr>
          <p:nvPr/>
        </p:nvPicPr>
        <p:blipFill>
          <a:blip r:embed="rId2"/>
          <a:stretch>
            <a:fillRect/>
          </a:stretch>
        </p:blipFill>
        <p:spPr>
          <a:xfrm>
            <a:off x="-7517" y="1561302"/>
            <a:ext cx="9151517" cy="5296698"/>
          </a:xfrm>
          <a:prstGeom prst="rect">
            <a:avLst/>
          </a:prstGeom>
        </p:spPr>
      </p:pic>
    </p:spTree>
    <p:extLst>
      <p:ext uri="{BB962C8B-B14F-4D97-AF65-F5344CB8AC3E}">
        <p14:creationId xmlns:p14="http://schemas.microsoft.com/office/powerpoint/2010/main" val="4083963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970B5-B4CF-0229-3548-FFA0D020B7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F2E3B-2DC6-7531-8F3B-B3D6B75F7692}"/>
              </a:ext>
            </a:extLst>
          </p:cNvPr>
          <p:cNvSpPr>
            <a:spLocks noGrp="1"/>
          </p:cNvSpPr>
          <p:nvPr>
            <p:ph type="title"/>
          </p:nvPr>
        </p:nvSpPr>
        <p:spPr/>
        <p:txBody>
          <a:bodyPr>
            <a:normAutofit/>
          </a:bodyPr>
          <a:lstStyle/>
          <a:p>
            <a:pPr>
              <a:defRPr sz="2800" b="1">
                <a:solidFill>
                  <a:srgbClr val="0073B7"/>
                </a:solidFill>
              </a:defRPr>
            </a:pPr>
            <a:r>
              <a:rPr lang="fr-FR" sz="3200" dirty="0"/>
              <a:t>📊 </a:t>
            </a:r>
            <a:r>
              <a:rPr sz="3200" dirty="0" err="1">
                <a:solidFill>
                  <a:schemeClr val="tx1">
                    <a:lumMod val="95000"/>
                    <a:lumOff val="5000"/>
                  </a:schemeClr>
                </a:solidFill>
              </a:rPr>
              <a:t>Résultats</a:t>
            </a:r>
            <a:r>
              <a:rPr sz="3200" dirty="0">
                <a:solidFill>
                  <a:schemeClr val="tx1">
                    <a:lumMod val="95000"/>
                    <a:lumOff val="5000"/>
                  </a:schemeClr>
                </a:solidFill>
              </a:rPr>
              <a:t> </a:t>
            </a:r>
            <a:r>
              <a:rPr sz="3200" dirty="0" err="1">
                <a:solidFill>
                  <a:schemeClr val="tx1">
                    <a:lumMod val="95000"/>
                    <a:lumOff val="5000"/>
                  </a:schemeClr>
                </a:solidFill>
              </a:rPr>
              <a:t>obtenus</a:t>
            </a:r>
            <a:endParaRPr sz="3200" dirty="0">
              <a:solidFill>
                <a:schemeClr val="tx1">
                  <a:lumMod val="95000"/>
                  <a:lumOff val="5000"/>
                </a:schemeClr>
              </a:solidFill>
            </a:endParaRPr>
          </a:p>
        </p:txBody>
      </p:sp>
      <p:sp>
        <p:nvSpPr>
          <p:cNvPr id="3" name="Content Placeholder 2">
            <a:extLst>
              <a:ext uri="{FF2B5EF4-FFF2-40B4-BE49-F238E27FC236}">
                <a16:creationId xmlns:a16="http://schemas.microsoft.com/office/drawing/2014/main" id="{79CD3A33-4C86-B86D-8EFA-D82259811D3F}"/>
              </a:ext>
            </a:extLst>
          </p:cNvPr>
          <p:cNvSpPr>
            <a:spLocks noGrp="1"/>
          </p:cNvSpPr>
          <p:nvPr>
            <p:ph idx="1"/>
          </p:nvPr>
        </p:nvSpPr>
        <p:spPr/>
        <p:txBody>
          <a:bodyPr>
            <a:normAutofit/>
          </a:bodyPr>
          <a:lstStyle/>
          <a:p>
            <a:pPr>
              <a:defRPr sz="1800"/>
            </a:pPr>
            <a:r>
              <a:rPr lang="fr-FR" sz="2400" b="1" noProof="0" dirty="0"/>
              <a:t>Importation de 3 tables CSV</a:t>
            </a:r>
          </a:p>
          <a:p>
            <a:pPr>
              <a:defRPr sz="1800"/>
            </a:pPr>
            <a:r>
              <a:rPr lang="fr-FR" sz="2400" b="1" noProof="0" dirty="0"/>
              <a:t>Données fusionnées issues de 3 sources</a:t>
            </a:r>
          </a:p>
          <a:p>
            <a:pPr>
              <a:defRPr sz="1800"/>
            </a:pPr>
            <a:r>
              <a:rPr lang="fr-FR" sz="2400" b="1" noProof="0" dirty="0"/>
              <a:t>Nettoyage et typage homogène</a:t>
            </a:r>
          </a:p>
          <a:p>
            <a:pPr>
              <a:defRPr sz="1800"/>
            </a:pPr>
            <a:r>
              <a:rPr lang="fr-FR" sz="2400" b="1" noProof="0" dirty="0"/>
              <a:t>Suppression des doublons sur la table CRM</a:t>
            </a:r>
          </a:p>
          <a:p>
            <a:pPr>
              <a:defRPr sz="1800"/>
            </a:pPr>
            <a:r>
              <a:rPr lang="fr-FR" sz="2400" b="1" dirty="0"/>
              <a:t>Suppression des données non numériques sur CRM</a:t>
            </a:r>
          </a:p>
          <a:p>
            <a:pPr>
              <a:defRPr sz="1800"/>
            </a:pPr>
            <a:r>
              <a:rPr lang="fr-FR" sz="2400" b="1" dirty="0"/>
              <a:t>Jointure sur la  clé primaire nom</a:t>
            </a:r>
            <a:endParaRPr lang="fr-FR" sz="2400" b="1" noProof="0" dirty="0"/>
          </a:p>
        </p:txBody>
      </p:sp>
    </p:spTree>
    <p:extLst>
      <p:ext uri="{BB962C8B-B14F-4D97-AF65-F5344CB8AC3E}">
        <p14:creationId xmlns:p14="http://schemas.microsoft.com/office/powerpoint/2010/main" val="556073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2800" b="1">
                <a:solidFill>
                  <a:srgbClr val="0073B7"/>
                </a:solidFill>
              </a:defRPr>
            </a:pPr>
            <a:r>
              <a:rPr lang="fr-FR" sz="3200" dirty="0"/>
              <a:t>✅ </a:t>
            </a:r>
            <a:r>
              <a:rPr sz="3200" dirty="0">
                <a:solidFill>
                  <a:schemeClr val="tx1">
                    <a:lumMod val="95000"/>
                    <a:lumOff val="5000"/>
                  </a:schemeClr>
                </a:solidFill>
              </a:rPr>
              <a:t>Conclusion</a:t>
            </a:r>
          </a:p>
        </p:txBody>
      </p:sp>
      <p:sp>
        <p:nvSpPr>
          <p:cNvPr id="3" name="Content Placeholder 2"/>
          <p:cNvSpPr>
            <a:spLocks noGrp="1"/>
          </p:cNvSpPr>
          <p:nvPr>
            <p:ph idx="1"/>
          </p:nvPr>
        </p:nvSpPr>
        <p:spPr/>
        <p:txBody>
          <a:bodyPr>
            <a:normAutofit/>
          </a:bodyPr>
          <a:lstStyle/>
          <a:p>
            <a:pPr marL="0" indent="0">
              <a:buNone/>
              <a:defRPr sz="1800"/>
            </a:pPr>
            <a:r>
              <a:rPr lang="fr-FR" sz="2400" b="1" noProof="0" dirty="0"/>
              <a:t>Une intégration complète et automatisée de données </a:t>
            </a:r>
            <a:r>
              <a:rPr lang="fr-FR" sz="2400" b="1" noProof="0" dirty="0" err="1"/>
              <a:t>multisources</a:t>
            </a:r>
            <a:r>
              <a:rPr lang="fr-FR" sz="2400" b="1" noProof="0" dirty="0"/>
              <a:t>,</a:t>
            </a:r>
          </a:p>
          <a:p>
            <a:pPr marL="0" indent="0">
              <a:buNone/>
              <a:defRPr sz="1800"/>
            </a:pPr>
            <a:r>
              <a:rPr lang="fr-FR" sz="2400" b="1" noProof="0" dirty="0"/>
              <a:t>garantissant la qualité, la cohérence et la traçabilité pour les analyses futures.</a:t>
            </a:r>
          </a:p>
          <a:p>
            <a:pPr marL="0" indent="0">
              <a:buNone/>
              <a:defRPr sz="1800"/>
            </a:pPr>
            <a:endParaRPr lang="fr-FR" sz="2400" b="1"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28E26-FD1A-3925-AAB5-8D409CA8D938}"/>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FE2A1CCE-DD70-8A1B-881F-F3D362A8A1A0}"/>
              </a:ext>
            </a:extLst>
          </p:cNvPr>
          <p:cNvSpPr>
            <a:spLocks noGrp="1"/>
          </p:cNvSpPr>
          <p:nvPr>
            <p:ph type="title"/>
          </p:nvPr>
        </p:nvSpPr>
        <p:spPr>
          <a:xfrm>
            <a:off x="457200" y="2857500"/>
            <a:ext cx="8229600" cy="1143000"/>
          </a:xfrm>
        </p:spPr>
        <p:txBody>
          <a:bodyPr/>
          <a:lstStyle/>
          <a:p>
            <a:r>
              <a:rPr lang="fr-FR" b="1" dirty="0"/>
              <a:t>Merci pour votre attention !</a:t>
            </a:r>
          </a:p>
        </p:txBody>
      </p:sp>
    </p:spTree>
    <p:extLst>
      <p:ext uri="{BB962C8B-B14F-4D97-AF65-F5344CB8AC3E}">
        <p14:creationId xmlns:p14="http://schemas.microsoft.com/office/powerpoint/2010/main" val="31135743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TotalTime>
  <Words>264</Words>
  <Application>Microsoft Macintosh PowerPoint</Application>
  <PresentationFormat>Affichage à l'écran (4:3)</PresentationFormat>
  <Paragraphs>51</Paragraphs>
  <Slides>16</Slides>
  <Notes>1</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16</vt:i4>
      </vt:variant>
    </vt:vector>
  </HeadingPairs>
  <TitlesOfParts>
    <vt:vector size="19" baseType="lpstr">
      <vt:lpstr>Arial</vt:lpstr>
      <vt:lpstr>Calibri</vt:lpstr>
      <vt:lpstr>Office Theme</vt:lpstr>
      <vt:lpstr>Projet Talend – Intégration et Fusion de Données Multi sources</vt:lpstr>
      <vt:lpstr>Sommaire</vt:lpstr>
      <vt:lpstr>🎯 Objectif du projet</vt:lpstr>
      <vt:lpstr>Présentation PowerPoint</vt:lpstr>
      <vt:lpstr>Présentation PowerPoint</vt:lpstr>
      <vt:lpstr>Présentation PowerPoint</vt:lpstr>
      <vt:lpstr>🧩 Schéma du processus</vt:lpstr>
      <vt:lpstr>Présentation PowerPoint</vt:lpstr>
      <vt:lpstr>📊 Résultats obtenus</vt:lpstr>
      <vt:lpstr>📊 Résultats obtenus</vt:lpstr>
      <vt:lpstr>Présentation PowerPoint</vt:lpstr>
      <vt:lpstr>📊 Résultats obtenus</vt:lpstr>
      <vt:lpstr>📊 Résultats obtenus</vt:lpstr>
      <vt:lpstr>📊 Résultats obtenus</vt:lpstr>
      <vt:lpstr>✅ Conclusion</vt:lpstr>
      <vt:lpstr>Merci pour votre attention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Matteo Cherief</cp:lastModifiedBy>
  <cp:revision>8</cp:revision>
  <dcterms:created xsi:type="dcterms:W3CDTF">2013-01-27T09:14:16Z</dcterms:created>
  <dcterms:modified xsi:type="dcterms:W3CDTF">2025-10-31T14:35:27Z</dcterms:modified>
  <cp:category/>
</cp:coreProperties>
</file>